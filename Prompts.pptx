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99" r:id="rId2"/>
    <p:sldId id="294" r:id="rId3"/>
    <p:sldId id="300" r:id="rId4"/>
    <p:sldId id="295" r:id="rId5"/>
    <p:sldId id="296" r:id="rId6"/>
    <p:sldId id="301" r:id="rId7"/>
    <p:sldId id="302" r:id="rId8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37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5B7BF0-E18C-4E74-9F6A-37E91E2A39AB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2ED6F-E0E8-41CF-8B43-99378203DEC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87161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1DB39943-9BDC-DA66-3E86-293AD53A8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e9604f3194_0_8:notes">
            <a:extLst>
              <a:ext uri="{FF2B5EF4-FFF2-40B4-BE49-F238E27FC236}">
                <a16:creationId xmlns:a16="http://schemas.microsoft.com/office/drawing/2014/main" id="{CDCA0967-613B-4F0C-CF4F-F6FE976808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e9604f3194_0_8:notes">
            <a:extLst>
              <a:ext uri="{FF2B5EF4-FFF2-40B4-BE49-F238E27FC236}">
                <a16:creationId xmlns:a16="http://schemas.microsoft.com/office/drawing/2014/main" id="{9595EDD0-0F0D-6E80-BD8A-D686D9CF9A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1291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B5CEA275-935A-F21C-6618-B76475CD7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e9604f3194_0_8:notes">
            <a:extLst>
              <a:ext uri="{FF2B5EF4-FFF2-40B4-BE49-F238E27FC236}">
                <a16:creationId xmlns:a16="http://schemas.microsoft.com/office/drawing/2014/main" id="{01DC114B-A672-7E57-811B-244F0648D9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e9604f3194_0_8:notes">
            <a:extLst>
              <a:ext uri="{FF2B5EF4-FFF2-40B4-BE49-F238E27FC236}">
                <a16:creationId xmlns:a16="http://schemas.microsoft.com/office/drawing/2014/main" id="{BCD169CC-AC4E-3C00-1704-619E804D6A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9420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F18361A8-3E23-2C6E-5BE9-33DDE383F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e9604f3194_0_8:notes">
            <a:extLst>
              <a:ext uri="{FF2B5EF4-FFF2-40B4-BE49-F238E27FC236}">
                <a16:creationId xmlns:a16="http://schemas.microsoft.com/office/drawing/2014/main" id="{E8B7BD15-4324-0693-0711-33BF18451B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e9604f3194_0_8:notes">
            <a:extLst>
              <a:ext uri="{FF2B5EF4-FFF2-40B4-BE49-F238E27FC236}">
                <a16:creationId xmlns:a16="http://schemas.microsoft.com/office/drawing/2014/main" id="{2AE80589-62DC-BBAC-7FF5-CD0005DEFE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416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1F2A400D-95EF-0AA3-AD69-CDC9D8407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e9604f3194_0_8:notes">
            <a:extLst>
              <a:ext uri="{FF2B5EF4-FFF2-40B4-BE49-F238E27FC236}">
                <a16:creationId xmlns:a16="http://schemas.microsoft.com/office/drawing/2014/main" id="{DDFABE43-634C-4863-A65F-368F430A2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e9604f3194_0_8:notes">
            <a:extLst>
              <a:ext uri="{FF2B5EF4-FFF2-40B4-BE49-F238E27FC236}">
                <a16:creationId xmlns:a16="http://schemas.microsoft.com/office/drawing/2014/main" id="{279FE1DC-FB15-9506-C53B-A32229C547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8179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BC806904-B5E5-E24D-41E6-2AA51A4C0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e9604f3194_0_8:notes">
            <a:extLst>
              <a:ext uri="{FF2B5EF4-FFF2-40B4-BE49-F238E27FC236}">
                <a16:creationId xmlns:a16="http://schemas.microsoft.com/office/drawing/2014/main" id="{A93F08F7-9F2D-8A14-A4B7-FDCF99889B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e9604f3194_0_8:notes">
            <a:extLst>
              <a:ext uri="{FF2B5EF4-FFF2-40B4-BE49-F238E27FC236}">
                <a16:creationId xmlns:a16="http://schemas.microsoft.com/office/drawing/2014/main" id="{E86F6443-FF77-BDCB-1234-1B7A16C4F4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6730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0BCF3D48-E297-D2F1-5811-6A417EA74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e9604f3194_0_8:notes">
            <a:extLst>
              <a:ext uri="{FF2B5EF4-FFF2-40B4-BE49-F238E27FC236}">
                <a16:creationId xmlns:a16="http://schemas.microsoft.com/office/drawing/2014/main" id="{F67B8690-49B9-E924-59DC-C3A2F3053D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e9604f3194_0_8:notes">
            <a:extLst>
              <a:ext uri="{FF2B5EF4-FFF2-40B4-BE49-F238E27FC236}">
                <a16:creationId xmlns:a16="http://schemas.microsoft.com/office/drawing/2014/main" id="{CBCAA8E4-D4EA-414D-8372-AA62E66C8F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5893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EA1908D1-941F-4850-5513-68D5A2F19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e9604f3194_0_8:notes">
            <a:extLst>
              <a:ext uri="{FF2B5EF4-FFF2-40B4-BE49-F238E27FC236}">
                <a16:creationId xmlns:a16="http://schemas.microsoft.com/office/drawing/2014/main" id="{643B96D5-9B13-E88D-FA81-6C0C2952C1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e9604f3194_0_8:notes">
            <a:extLst>
              <a:ext uri="{FF2B5EF4-FFF2-40B4-BE49-F238E27FC236}">
                <a16:creationId xmlns:a16="http://schemas.microsoft.com/office/drawing/2014/main" id="{F195F284-CFC6-4974-7A86-473338CD0C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6079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33E8AE-8B09-E529-7E7C-91DC7B613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F03CFA-27D4-1834-C9C4-5A9310632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FE0288-9555-C32D-C54E-271BCC6FF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B567-C362-47A1-8EDD-3A2DC3494A8B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635200-5A7A-5903-0FA6-3CCB647AD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298C5E-5E87-941A-3F27-C5018E85F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39858-C4D5-4B15-8E16-AEA3B67110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5776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841AE0-2C4E-5BFC-2456-7BEBA2A11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7BBB7D-F916-D802-5A24-B697E14E4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7ED1CA-F6E8-CCF7-0B11-F944EB956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B567-C362-47A1-8EDD-3A2DC3494A8B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5057D-3969-2FF3-8AC1-9BD2CB119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80665C-9B8D-2EC9-4FB4-02BD7D31B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39858-C4D5-4B15-8E16-AEA3B67110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00147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FE8B0D-96C9-A4C5-92BA-0C9829866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3ED833-BF03-65D8-D9E8-1155F9931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96511A-3745-6AC9-BC28-760419BEB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B567-C362-47A1-8EDD-3A2DC3494A8B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06A41E-5F7F-D2EA-3026-7BE078DC9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4ED412-9BEA-F865-72A3-7D405D980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39858-C4D5-4B15-8E16-AEA3B67110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16984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06CBE6-8233-14FE-9358-5B4EF7A9E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86F5D2-3458-612D-89C8-E91D9E9F1A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6B1906-7BE7-76BD-81F7-CF1AC9C3A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25DDD04-E2CE-62AB-AB9A-93D12D83B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B567-C362-47A1-8EDD-3A2DC3494A8B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D5DF7F-A644-A55D-2F5B-971AEC88F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0F681C1-0696-046C-5B8F-7BBA97CC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39858-C4D5-4B15-8E16-AEA3B67110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04523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015DA-A964-EA88-B8E1-8A0B68DCC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489AF8-41AD-5485-51B9-44C0241C4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FF23141-9077-60F6-CBAB-F5A575E9A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0701A7C-CE80-9808-FD4E-DC1B0A4777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C0A2C90-2315-D0BF-C20E-32690D7FB3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F65D3E4-4A6A-C890-7869-A58A4E653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B567-C362-47A1-8EDD-3A2DC3494A8B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7A94272-116C-0F94-2158-56D38ADB1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2B7AFCF-8920-6EB9-4F8F-B239C43B1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39858-C4D5-4B15-8E16-AEA3B67110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331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1012D-FE28-251D-DA62-2232E8947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E77ED13-67FC-B692-37B5-C924D22A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B567-C362-47A1-8EDD-3A2DC3494A8B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6B7FE8C-B42B-D446-59F5-559641EC8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3B775CE-4E79-44E4-E58D-4DE9D2751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39858-C4D5-4B15-8E16-AEA3B67110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69180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F542594-6D41-F90E-5D20-4B07CE24F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B567-C362-47A1-8EDD-3A2DC3494A8B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F29F1BD-81C0-1552-32B4-BFA069C7F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5E7E8D-64E0-F110-6104-9F5E267F0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39858-C4D5-4B15-8E16-AEA3B67110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49043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F680D0-1953-8BF6-B967-FC0FFA217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FE32C2-3580-DF74-9EF8-4C0C38745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8DF071B-A5D3-CC84-A5EB-F166A5A80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906036-4646-0462-FD5E-2C11F179E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B567-C362-47A1-8EDD-3A2DC3494A8B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C25BC3-3255-8F40-4536-A9120FB6C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8211E9-2A9E-EC96-1CC8-11A42F30B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39858-C4D5-4B15-8E16-AEA3B67110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42328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F93A2C-1ED8-6B0B-1535-9BA9EF3BB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D0B3EE9-F06D-D71E-FBAC-88BF0930A0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E7C817-E2A4-9772-969A-6683E865A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DED650B-AF37-0FF3-A33B-D307C227E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B567-C362-47A1-8EDD-3A2DC3494A8B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B6408E-0E22-E300-1D9D-884EC7618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AB9254-C165-7FAC-7E98-033912483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39858-C4D5-4B15-8E16-AEA3B67110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97631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9443C-AFC6-03F1-08B7-F29681F56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E895FD3-F56D-BC27-5227-903FF527F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BF9B52-A83B-9AE9-F0D2-EB080C06D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B567-C362-47A1-8EDD-3A2DC3494A8B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EFE82E-F067-4A9A-24F0-468D61CD0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2EF4B8-0753-B644-DF10-4413BAFB9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39858-C4D5-4B15-8E16-AEA3B67110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46870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50087A2-A415-7997-B435-4A360A08AC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F802803-255E-2AC1-2445-05B6E76A7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0A15BE-8BFE-FD5F-4A99-C3C8A263F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B567-C362-47A1-8EDD-3A2DC3494A8B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18DB53-E9DF-CF1D-4F32-3D236F02A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BA28B9-1DB5-7A5B-8DED-711B3FF49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39858-C4D5-4B15-8E16-AEA3B67110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18089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Fondo blanc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8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15218" y="6256367"/>
            <a:ext cx="1534333" cy="3567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5841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C1D71BC-D1A2-4C83-93E1-CB8F47A5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FA7188-F4EC-A082-51D0-3069B066E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5EBCBC-1D22-C088-F230-E069A05716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F5B567-C362-47A1-8EDD-3A2DC3494A8B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31E901-DC3E-FE86-7D94-ABCBBCA127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B8E80D-3A52-14A6-018D-3C682CA33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A39858-C4D5-4B15-8E16-AEA3B67110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29482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>
          <a:extLst>
            <a:ext uri="{FF2B5EF4-FFF2-40B4-BE49-F238E27FC236}">
              <a16:creationId xmlns:a16="http://schemas.microsoft.com/office/drawing/2014/main" id="{85E98D05-165C-49B1-7F5F-3E304A06A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p44">
            <a:extLst>
              <a:ext uri="{FF2B5EF4-FFF2-40B4-BE49-F238E27FC236}">
                <a16:creationId xmlns:a16="http://schemas.microsoft.com/office/drawing/2014/main" id="{1B26ADB6-BF1E-47F3-9059-D3CE4EAB7623}"/>
              </a:ext>
            </a:extLst>
          </p:cNvPr>
          <p:cNvGrpSpPr/>
          <p:nvPr/>
        </p:nvGrpSpPr>
        <p:grpSpPr>
          <a:xfrm>
            <a:off x="634006" y="624345"/>
            <a:ext cx="574765" cy="574864"/>
            <a:chOff x="3137108" y="2467173"/>
            <a:chExt cx="738900" cy="738900"/>
          </a:xfrm>
        </p:grpSpPr>
        <p:sp>
          <p:nvSpPr>
            <p:cNvPr id="343" name="Google Shape;343;p44">
              <a:extLst>
                <a:ext uri="{FF2B5EF4-FFF2-40B4-BE49-F238E27FC236}">
                  <a16:creationId xmlns:a16="http://schemas.microsoft.com/office/drawing/2014/main" id="{7BC7C9A3-9653-7C08-A8DF-B2D9B7C4D42F}"/>
                </a:ext>
              </a:extLst>
            </p:cNvPr>
            <p:cNvSpPr/>
            <p:nvPr/>
          </p:nvSpPr>
          <p:spPr>
            <a:xfrm>
              <a:off x="3137108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pic>
          <p:nvPicPr>
            <p:cNvPr id="344" name="Google Shape;344;p44" title="ícono de desafío entregable">
              <a:extLst>
                <a:ext uri="{FF2B5EF4-FFF2-40B4-BE49-F238E27FC236}">
                  <a16:creationId xmlns:a16="http://schemas.microsoft.com/office/drawing/2014/main" id="{871D5F72-9F4C-20E2-25F7-D1978002105B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84109" y="2622263"/>
              <a:ext cx="428721" cy="42872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46" name="Google Shape;346;p44">
            <a:extLst>
              <a:ext uri="{FF2B5EF4-FFF2-40B4-BE49-F238E27FC236}">
                <a16:creationId xmlns:a16="http://schemas.microsoft.com/office/drawing/2014/main" id="{61D13E22-D2B4-BDDE-A90A-54F5B44C701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15218" y="6256367"/>
            <a:ext cx="1534333" cy="356767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4">
            <a:extLst>
              <a:ext uri="{FF2B5EF4-FFF2-40B4-BE49-F238E27FC236}">
                <a16:creationId xmlns:a16="http://schemas.microsoft.com/office/drawing/2014/main" id="{9E1A556A-2046-D930-DEBE-B26E40F5B55E}"/>
              </a:ext>
            </a:extLst>
          </p:cNvPr>
          <p:cNvSpPr txBox="1"/>
          <p:nvPr/>
        </p:nvSpPr>
        <p:spPr>
          <a:xfrm>
            <a:off x="1240733" y="624367"/>
            <a:ext cx="55744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-AR" sz="2133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PREENTREGA N°2</a:t>
            </a:r>
            <a:endParaRPr sz="240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9" name="Google Shape;349;p44">
            <a:extLst>
              <a:ext uri="{FF2B5EF4-FFF2-40B4-BE49-F238E27FC236}">
                <a16:creationId xmlns:a16="http://schemas.microsoft.com/office/drawing/2014/main" id="{05649C4E-19C1-DE83-5F09-24273D8CC611}"/>
              </a:ext>
            </a:extLst>
          </p:cNvPr>
          <p:cNvSpPr txBox="1"/>
          <p:nvPr/>
        </p:nvSpPr>
        <p:spPr>
          <a:xfrm>
            <a:off x="1081840" y="1612463"/>
            <a:ext cx="9746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-AR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Disponibilidad de datos</a:t>
            </a: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Google Shape;349;p44">
            <a:extLst>
              <a:ext uri="{FF2B5EF4-FFF2-40B4-BE49-F238E27FC236}">
                <a16:creationId xmlns:a16="http://schemas.microsoft.com/office/drawing/2014/main" id="{2DF070C5-1F18-74C9-2B60-0E4853234D6F}"/>
              </a:ext>
            </a:extLst>
          </p:cNvPr>
          <p:cNvSpPr txBox="1"/>
          <p:nvPr/>
        </p:nvSpPr>
        <p:spPr>
          <a:xfrm>
            <a:off x="1081840" y="2019896"/>
            <a:ext cx="9746800" cy="2616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-AR" sz="1400" b="1" dirty="0" err="1">
                <a:highlight>
                  <a:srgbClr val="FFFF00"/>
                </a:highlight>
              </a:rPr>
              <a:t>Prompt</a:t>
            </a:r>
            <a:r>
              <a:rPr lang="es-AR" sz="1400" b="1" dirty="0">
                <a:highlight>
                  <a:srgbClr val="FFFF00"/>
                </a:highlight>
              </a:rPr>
              <a:t> B — Respuesta WhatsApp lista para enviar (con CTA)</a:t>
            </a:r>
          </a:p>
          <a:p>
            <a:r>
              <a:rPr lang="es-AR" sz="1400" dirty="0"/>
              <a:t>“</a:t>
            </a:r>
            <a:r>
              <a:rPr lang="es-AR" sz="1400" dirty="0" err="1"/>
              <a:t>Actuá</a:t>
            </a:r>
            <a:r>
              <a:rPr lang="es-AR" sz="1400" dirty="0"/>
              <a:t> como agente de WhatsApp de [Coberturas Florales], .</a:t>
            </a:r>
            <a:br>
              <a:rPr lang="es-AR" sz="1400" dirty="0"/>
            </a:br>
            <a:r>
              <a:rPr lang="es-AR" sz="1400" dirty="0"/>
              <a:t>Tono: [CERCANO, AMIGABLE Y DIRECTO ], .</a:t>
            </a:r>
            <a:br>
              <a:rPr lang="es-AR" sz="1400" dirty="0"/>
            </a:br>
            <a:r>
              <a:rPr lang="es-AR" sz="1400" i="1" dirty="0"/>
              <a:t>Mensaje del cliente</a:t>
            </a:r>
            <a:r>
              <a:rPr lang="es-AR" sz="1400" dirty="0"/>
              <a:t>: ‘[</a:t>
            </a:r>
            <a:r>
              <a:rPr lang="es-AR" sz="1400" dirty="0">
                <a:solidFill>
                  <a:srgbClr val="FF0000"/>
                </a:solidFill>
              </a:rPr>
              <a:t>MENSAJE_CLIENTE</a:t>
            </a:r>
            <a:r>
              <a:rPr lang="es-AR" sz="1400" dirty="0"/>
              <a:t>]’</a:t>
            </a:r>
            <a:br>
              <a:rPr lang="es-AR" sz="1400" dirty="0"/>
            </a:br>
            <a:r>
              <a:rPr lang="es-AR" sz="1400" dirty="0" err="1"/>
              <a:t>Usá</a:t>
            </a:r>
            <a:r>
              <a:rPr lang="es-AR" sz="1400" dirty="0"/>
              <a:t> FAQ: [https://coberturasflorales.com.ar/faqs] y políticas: [https://coberturasflorales.com.ar/faqs/], .</a:t>
            </a:r>
            <a:br>
              <a:rPr lang="es-AR" sz="1400" dirty="0"/>
            </a:br>
            <a:r>
              <a:rPr lang="es-AR" sz="1400" i="1" dirty="0"/>
              <a:t>Responde</a:t>
            </a:r>
            <a:r>
              <a:rPr lang="es-AR" sz="1400" dirty="0"/>
              <a:t>:</a:t>
            </a:r>
          </a:p>
          <a:p>
            <a:r>
              <a:rPr lang="es-AR" sz="1400" dirty="0"/>
              <a:t>Mensaje listo para enviar (</a:t>
            </a:r>
            <a:r>
              <a:rPr lang="es-AR" sz="1400" dirty="0" err="1"/>
              <a:t>máx</a:t>
            </a:r>
            <a:r>
              <a:rPr lang="es-AR" sz="1400" dirty="0"/>
              <a:t> 350 caracteres)</a:t>
            </a:r>
          </a:p>
          <a:p>
            <a:r>
              <a:rPr lang="es-AR" sz="1400" dirty="0"/>
              <a:t>1 CTA claro: ‘Te paso opciones / </a:t>
            </a:r>
            <a:r>
              <a:rPr lang="es-AR" sz="1400" dirty="0" err="1"/>
              <a:t>Confirmame</a:t>
            </a:r>
            <a:r>
              <a:rPr lang="es-AR" sz="1400" dirty="0"/>
              <a:t> X / Te envío el link’ (sin prometer disponibilidad).”</a:t>
            </a:r>
          </a:p>
          <a:p>
            <a:r>
              <a:rPr lang="es-AR" sz="1400" dirty="0"/>
              <a:t>1 sola pregunta final para avanzar</a:t>
            </a:r>
            <a:br>
              <a:rPr lang="es-AR" sz="1400" dirty="0"/>
            </a:br>
            <a:r>
              <a:rPr lang="es-AR" sz="1400" dirty="0"/>
              <a:t>Si falta info, antes de responder, pedí más información o aclaración. Antes de responder, </a:t>
            </a:r>
            <a:r>
              <a:rPr lang="es-AR" sz="1400" dirty="0" err="1"/>
              <a:t>chequeá</a:t>
            </a:r>
            <a:r>
              <a:rPr lang="es-AR" sz="1400" dirty="0"/>
              <a:t> si faltan: zona, fecha/hora, tipo de servicio, método de pago. Si falta info: </a:t>
            </a:r>
            <a:r>
              <a:rPr lang="es-AR" sz="1400" dirty="0" err="1"/>
              <a:t>hacé</a:t>
            </a:r>
            <a:r>
              <a:rPr lang="es-AR" sz="1400" dirty="0"/>
              <a:t> solo 1 pregunta y no des condiciones cerradas.”</a:t>
            </a:r>
          </a:p>
        </p:txBody>
      </p:sp>
    </p:spTree>
    <p:extLst>
      <p:ext uri="{BB962C8B-B14F-4D97-AF65-F5344CB8AC3E}">
        <p14:creationId xmlns:p14="http://schemas.microsoft.com/office/powerpoint/2010/main" val="2986925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>
          <a:extLst>
            <a:ext uri="{FF2B5EF4-FFF2-40B4-BE49-F238E27FC236}">
              <a16:creationId xmlns:a16="http://schemas.microsoft.com/office/drawing/2014/main" id="{7BA26112-306D-DA5B-D3F9-5A9972A5B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p44">
            <a:extLst>
              <a:ext uri="{FF2B5EF4-FFF2-40B4-BE49-F238E27FC236}">
                <a16:creationId xmlns:a16="http://schemas.microsoft.com/office/drawing/2014/main" id="{4C656D32-E7D9-1F0E-2551-CCDBEA286E5F}"/>
              </a:ext>
            </a:extLst>
          </p:cNvPr>
          <p:cNvGrpSpPr/>
          <p:nvPr/>
        </p:nvGrpSpPr>
        <p:grpSpPr>
          <a:xfrm>
            <a:off x="634006" y="624345"/>
            <a:ext cx="574765" cy="574864"/>
            <a:chOff x="3137108" y="2467173"/>
            <a:chExt cx="738900" cy="738900"/>
          </a:xfrm>
        </p:grpSpPr>
        <p:sp>
          <p:nvSpPr>
            <p:cNvPr id="343" name="Google Shape;343;p44">
              <a:extLst>
                <a:ext uri="{FF2B5EF4-FFF2-40B4-BE49-F238E27FC236}">
                  <a16:creationId xmlns:a16="http://schemas.microsoft.com/office/drawing/2014/main" id="{BDBD9634-3B70-ED0C-A55C-5E96996C20CB}"/>
                </a:ext>
              </a:extLst>
            </p:cNvPr>
            <p:cNvSpPr/>
            <p:nvPr/>
          </p:nvSpPr>
          <p:spPr>
            <a:xfrm>
              <a:off x="3137108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pic>
          <p:nvPicPr>
            <p:cNvPr id="344" name="Google Shape;344;p44" title="ícono de desafío entregable">
              <a:extLst>
                <a:ext uri="{FF2B5EF4-FFF2-40B4-BE49-F238E27FC236}">
                  <a16:creationId xmlns:a16="http://schemas.microsoft.com/office/drawing/2014/main" id="{69E22552-BF8C-0FCA-27AC-0A2CEC7C0272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84109" y="2622263"/>
              <a:ext cx="428721" cy="42872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46" name="Google Shape;346;p44">
            <a:extLst>
              <a:ext uri="{FF2B5EF4-FFF2-40B4-BE49-F238E27FC236}">
                <a16:creationId xmlns:a16="http://schemas.microsoft.com/office/drawing/2014/main" id="{C8001D3E-93DB-D40F-6A77-71CA3896E60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15218" y="6256367"/>
            <a:ext cx="1534333" cy="356767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4">
            <a:extLst>
              <a:ext uri="{FF2B5EF4-FFF2-40B4-BE49-F238E27FC236}">
                <a16:creationId xmlns:a16="http://schemas.microsoft.com/office/drawing/2014/main" id="{AF7C7A1E-22B0-E9C0-2FF9-5548A095BE4C}"/>
              </a:ext>
            </a:extLst>
          </p:cNvPr>
          <p:cNvSpPr txBox="1"/>
          <p:nvPr/>
        </p:nvSpPr>
        <p:spPr>
          <a:xfrm>
            <a:off x="1240733" y="624367"/>
            <a:ext cx="55744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-AR" sz="2133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PREENTREGA N°2</a:t>
            </a:r>
            <a:endParaRPr sz="240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9" name="Google Shape;349;p44">
            <a:extLst>
              <a:ext uri="{FF2B5EF4-FFF2-40B4-BE49-F238E27FC236}">
                <a16:creationId xmlns:a16="http://schemas.microsoft.com/office/drawing/2014/main" id="{91F7F38C-8C91-B400-426C-E3231B07545A}"/>
              </a:ext>
            </a:extLst>
          </p:cNvPr>
          <p:cNvSpPr txBox="1"/>
          <p:nvPr/>
        </p:nvSpPr>
        <p:spPr>
          <a:xfrm>
            <a:off x="1081840" y="1612463"/>
            <a:ext cx="9746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-AR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Disponibilidad de datos</a:t>
            </a: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Google Shape;349;p44">
            <a:extLst>
              <a:ext uri="{FF2B5EF4-FFF2-40B4-BE49-F238E27FC236}">
                <a16:creationId xmlns:a16="http://schemas.microsoft.com/office/drawing/2014/main" id="{7AFB51F4-65FF-75E0-8302-8A88943A1D31}"/>
              </a:ext>
            </a:extLst>
          </p:cNvPr>
          <p:cNvSpPr txBox="1"/>
          <p:nvPr/>
        </p:nvSpPr>
        <p:spPr>
          <a:xfrm>
            <a:off x="1081840" y="2019896"/>
            <a:ext cx="9746800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-AR" sz="1400" b="1" dirty="0" err="1">
                <a:highlight>
                  <a:srgbClr val="FFFF00"/>
                </a:highlight>
              </a:rPr>
              <a:t>Prompt</a:t>
            </a:r>
            <a:r>
              <a:rPr lang="es-AR" sz="1400" b="1" dirty="0">
                <a:highlight>
                  <a:srgbClr val="FFFF00"/>
                </a:highlight>
              </a:rPr>
              <a:t> C — Urgencia “¿llega hoy?”</a:t>
            </a:r>
          </a:p>
          <a:p>
            <a:r>
              <a:rPr lang="es-AR" sz="1400" dirty="0"/>
              <a:t>“Cliente pide entrega hoy. </a:t>
            </a:r>
            <a:r>
              <a:rPr lang="es-AR" sz="1400" dirty="0" err="1"/>
              <a:t>Redactá</a:t>
            </a:r>
            <a:r>
              <a:rPr lang="es-AR" sz="1400" dirty="0"/>
              <a:t> respuesta con: disponibilidad realista, alternativa si no hay cupo (retiro / entrega programada / “próxima franja disponible” o “reprogramar” o “confirmar si hay seguridad 24 hs”), y cierre para confirmar.</a:t>
            </a:r>
            <a:br>
              <a:rPr lang="es-AR" sz="1400" dirty="0"/>
            </a:br>
            <a:r>
              <a:rPr lang="es-AR" sz="1400" dirty="0"/>
              <a:t>Datos: [Domingo de 10 a 16hs.</a:t>
            </a:r>
          </a:p>
          <a:p>
            <a:r>
              <a:rPr lang="es-AR" sz="1400" dirty="0"/>
              <a:t>Jueves y Viernes en dos turnos: de 8 a 12hs y de 16 a 20hs. </a:t>
            </a:r>
          </a:p>
          <a:p>
            <a:r>
              <a:rPr lang="es-AR" sz="1400" dirty="0"/>
              <a:t>Se proporcionará la opción de indicar si el domicilio u oficina cuenta con seguridad las 24 horas para recibir el pedido y poder entregarlo algunos de esos días fueras del rango horario.], [entregas sin costo dentro de la Ciudad Autónoma de Buenos Aires y con costo de envío en la Zona Norte de la provincia de Buenos Aires, hasta el partido de Pilar inclusive.], [</a:t>
            </a:r>
            <a:r>
              <a:rPr lang="es-AR" sz="1400" dirty="0">
                <a:solidFill>
                  <a:srgbClr val="FF0000"/>
                </a:solidFill>
              </a:rPr>
              <a:t>ENTREGA PROGRAMADA O NO</a:t>
            </a:r>
            <a:r>
              <a:rPr lang="es-AR" sz="1400" dirty="0"/>
              <a:t>], [https://coberturasflorales.com.ar/faqs/], .</a:t>
            </a:r>
            <a:br>
              <a:rPr lang="es-AR" sz="1400" dirty="0"/>
            </a:br>
            <a:r>
              <a:rPr lang="es-AR" sz="1400" dirty="0"/>
              <a:t>Mensaje cliente: [MENSAJE_CLIENTE]. </a:t>
            </a:r>
            <a:r>
              <a:rPr lang="es-AR" sz="1400" dirty="0" err="1"/>
              <a:t>Máx</a:t>
            </a:r>
            <a:r>
              <a:rPr lang="es-AR" sz="1400" dirty="0"/>
              <a:t> 320 caracteres.”</a:t>
            </a:r>
          </a:p>
        </p:txBody>
      </p:sp>
    </p:spTree>
    <p:extLst>
      <p:ext uri="{BB962C8B-B14F-4D97-AF65-F5344CB8AC3E}">
        <p14:creationId xmlns:p14="http://schemas.microsoft.com/office/powerpoint/2010/main" val="2107505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>
          <a:extLst>
            <a:ext uri="{FF2B5EF4-FFF2-40B4-BE49-F238E27FC236}">
              <a16:creationId xmlns:a16="http://schemas.microsoft.com/office/drawing/2014/main" id="{3D1EAD9C-533E-B5EC-9D6B-04CA29B8C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p44">
            <a:extLst>
              <a:ext uri="{FF2B5EF4-FFF2-40B4-BE49-F238E27FC236}">
                <a16:creationId xmlns:a16="http://schemas.microsoft.com/office/drawing/2014/main" id="{6A6C975B-2557-4C0B-F899-33DBE19CB372}"/>
              </a:ext>
            </a:extLst>
          </p:cNvPr>
          <p:cNvGrpSpPr/>
          <p:nvPr/>
        </p:nvGrpSpPr>
        <p:grpSpPr>
          <a:xfrm>
            <a:off x="634006" y="624345"/>
            <a:ext cx="574765" cy="574864"/>
            <a:chOff x="3137108" y="2467173"/>
            <a:chExt cx="738900" cy="738900"/>
          </a:xfrm>
        </p:grpSpPr>
        <p:sp>
          <p:nvSpPr>
            <p:cNvPr id="343" name="Google Shape;343;p44">
              <a:extLst>
                <a:ext uri="{FF2B5EF4-FFF2-40B4-BE49-F238E27FC236}">
                  <a16:creationId xmlns:a16="http://schemas.microsoft.com/office/drawing/2014/main" id="{15FAFFF0-A17F-6ED8-89F3-75ABB44C1113}"/>
                </a:ext>
              </a:extLst>
            </p:cNvPr>
            <p:cNvSpPr/>
            <p:nvPr/>
          </p:nvSpPr>
          <p:spPr>
            <a:xfrm>
              <a:off x="3137108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pic>
          <p:nvPicPr>
            <p:cNvPr id="344" name="Google Shape;344;p44" title="ícono de desafío entregable">
              <a:extLst>
                <a:ext uri="{FF2B5EF4-FFF2-40B4-BE49-F238E27FC236}">
                  <a16:creationId xmlns:a16="http://schemas.microsoft.com/office/drawing/2014/main" id="{78245E87-7D7A-2E89-E15D-15F837C43F93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84109" y="2622263"/>
              <a:ext cx="428721" cy="42872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46" name="Google Shape;346;p44">
            <a:extLst>
              <a:ext uri="{FF2B5EF4-FFF2-40B4-BE49-F238E27FC236}">
                <a16:creationId xmlns:a16="http://schemas.microsoft.com/office/drawing/2014/main" id="{9DBE17FA-08AD-7B05-B908-9B4646F50DF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15218" y="6256367"/>
            <a:ext cx="1534333" cy="356767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4">
            <a:extLst>
              <a:ext uri="{FF2B5EF4-FFF2-40B4-BE49-F238E27FC236}">
                <a16:creationId xmlns:a16="http://schemas.microsoft.com/office/drawing/2014/main" id="{FDE327FB-5D10-D12A-AC67-044B96681F44}"/>
              </a:ext>
            </a:extLst>
          </p:cNvPr>
          <p:cNvSpPr txBox="1"/>
          <p:nvPr/>
        </p:nvSpPr>
        <p:spPr>
          <a:xfrm>
            <a:off x="1240733" y="624367"/>
            <a:ext cx="55744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-AR" sz="2133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PREENTREGA N°2</a:t>
            </a:r>
            <a:endParaRPr sz="240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9" name="Google Shape;349;p44">
            <a:extLst>
              <a:ext uri="{FF2B5EF4-FFF2-40B4-BE49-F238E27FC236}">
                <a16:creationId xmlns:a16="http://schemas.microsoft.com/office/drawing/2014/main" id="{97E848BC-CDE0-7157-E5DF-9433C6D5530F}"/>
              </a:ext>
            </a:extLst>
          </p:cNvPr>
          <p:cNvSpPr txBox="1"/>
          <p:nvPr/>
        </p:nvSpPr>
        <p:spPr>
          <a:xfrm>
            <a:off x="1081840" y="1612463"/>
            <a:ext cx="9746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-AR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Disponibilidad de datos</a:t>
            </a: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Google Shape;349;p44">
            <a:extLst>
              <a:ext uri="{FF2B5EF4-FFF2-40B4-BE49-F238E27FC236}">
                <a16:creationId xmlns:a16="http://schemas.microsoft.com/office/drawing/2014/main" id="{4D0236AC-F3D4-5433-D544-BBE7A78C2FF6}"/>
              </a:ext>
            </a:extLst>
          </p:cNvPr>
          <p:cNvSpPr txBox="1"/>
          <p:nvPr/>
        </p:nvSpPr>
        <p:spPr>
          <a:xfrm>
            <a:off x="1081840" y="2019896"/>
            <a:ext cx="9746800" cy="1969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-AR" sz="1400" b="1" dirty="0" err="1">
                <a:highlight>
                  <a:srgbClr val="FFFF00"/>
                </a:highlight>
              </a:rPr>
              <a:t>Prompt</a:t>
            </a:r>
            <a:r>
              <a:rPr lang="es-AR" sz="1400" b="1" dirty="0">
                <a:highlight>
                  <a:srgbClr val="FFFF00"/>
                </a:highlight>
              </a:rPr>
              <a:t> D — Sin stock / cambio de flor (estacionalidad)</a:t>
            </a:r>
          </a:p>
          <a:p>
            <a:r>
              <a:rPr lang="es-AR" sz="1400" dirty="0"/>
              <a:t>“Si no hay la flor exacta, </a:t>
            </a:r>
            <a:r>
              <a:rPr lang="es-AR" sz="1400" dirty="0" err="1"/>
              <a:t>respondé</a:t>
            </a:r>
            <a:r>
              <a:rPr lang="es-AR" sz="1400" dirty="0"/>
              <a:t> proponiendo 2 reemplazos equivalentes </a:t>
            </a:r>
            <a:r>
              <a:rPr lang="es-AR" sz="1400" b="1" dirty="0"/>
              <a:t>por estilo</a:t>
            </a:r>
            <a:r>
              <a:rPr lang="es-AR" sz="1400" dirty="0"/>
              <a:t> (estación, paleta, volumen) y validando color principal.</a:t>
            </a:r>
          </a:p>
          <a:p>
            <a:r>
              <a:rPr lang="es-AR" sz="1400" dirty="0"/>
              <a:t>Regla: “Si no hay flor exacta, ofrecer 2 alternativas por </a:t>
            </a:r>
            <a:r>
              <a:rPr lang="es-AR" sz="1400" b="1" dirty="0"/>
              <a:t>estilo y color</a:t>
            </a:r>
            <a:r>
              <a:rPr lang="es-AR" sz="1400" dirty="0"/>
              <a:t>, y pedir confirmación del color principal.”</a:t>
            </a:r>
            <a:br>
              <a:rPr lang="es-AR" sz="1400" dirty="0"/>
            </a:br>
            <a:r>
              <a:rPr lang="es-AR" sz="1400" dirty="0"/>
              <a:t>Catálogo: [https://coberturasflorales.com.ar/servicios//], </a:t>
            </a:r>
            <a:br>
              <a:rPr lang="es-AR" sz="1400" dirty="0"/>
            </a:br>
            <a:r>
              <a:rPr lang="es-AR" sz="1400" dirty="0"/>
              <a:t>Políticas: [https://coberturasflorales.com.ar/faqs/], </a:t>
            </a:r>
            <a:br>
              <a:rPr lang="es-AR" sz="1400" dirty="0"/>
            </a:br>
            <a:r>
              <a:rPr lang="es-AR" sz="1400" dirty="0"/>
              <a:t>Mensaje cliente: [MENSAJE_CLIENTE]</a:t>
            </a:r>
            <a:br>
              <a:rPr lang="es-AR" sz="1400" dirty="0"/>
            </a:br>
            <a:r>
              <a:rPr lang="es-AR" sz="1400" dirty="0"/>
              <a:t>Salida: 1 mensaje WhatsApp + 2 opciones + CTA.”</a:t>
            </a:r>
          </a:p>
        </p:txBody>
      </p:sp>
    </p:spTree>
    <p:extLst>
      <p:ext uri="{BB962C8B-B14F-4D97-AF65-F5344CB8AC3E}">
        <p14:creationId xmlns:p14="http://schemas.microsoft.com/office/powerpoint/2010/main" val="28036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>
          <a:extLst>
            <a:ext uri="{FF2B5EF4-FFF2-40B4-BE49-F238E27FC236}">
              <a16:creationId xmlns:a16="http://schemas.microsoft.com/office/drawing/2014/main" id="{AC876E85-DF73-1A00-A09F-F991C67D0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p44">
            <a:extLst>
              <a:ext uri="{FF2B5EF4-FFF2-40B4-BE49-F238E27FC236}">
                <a16:creationId xmlns:a16="http://schemas.microsoft.com/office/drawing/2014/main" id="{3B6DDB3B-3CF1-4CA1-7FE1-8BC4DAC56261}"/>
              </a:ext>
            </a:extLst>
          </p:cNvPr>
          <p:cNvGrpSpPr/>
          <p:nvPr/>
        </p:nvGrpSpPr>
        <p:grpSpPr>
          <a:xfrm>
            <a:off x="634006" y="624345"/>
            <a:ext cx="574765" cy="574864"/>
            <a:chOff x="3137108" y="2467173"/>
            <a:chExt cx="738900" cy="738900"/>
          </a:xfrm>
        </p:grpSpPr>
        <p:sp>
          <p:nvSpPr>
            <p:cNvPr id="343" name="Google Shape;343;p44">
              <a:extLst>
                <a:ext uri="{FF2B5EF4-FFF2-40B4-BE49-F238E27FC236}">
                  <a16:creationId xmlns:a16="http://schemas.microsoft.com/office/drawing/2014/main" id="{BD8F043D-8F45-F716-20CF-B847DF7959A2}"/>
                </a:ext>
              </a:extLst>
            </p:cNvPr>
            <p:cNvSpPr/>
            <p:nvPr/>
          </p:nvSpPr>
          <p:spPr>
            <a:xfrm>
              <a:off x="3137108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pic>
          <p:nvPicPr>
            <p:cNvPr id="344" name="Google Shape;344;p44" title="ícono de desafío entregable">
              <a:extLst>
                <a:ext uri="{FF2B5EF4-FFF2-40B4-BE49-F238E27FC236}">
                  <a16:creationId xmlns:a16="http://schemas.microsoft.com/office/drawing/2014/main" id="{7039D57C-D10C-3C6D-EAF3-95B0CEB24254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84109" y="2622263"/>
              <a:ext cx="428721" cy="42872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46" name="Google Shape;346;p44">
            <a:extLst>
              <a:ext uri="{FF2B5EF4-FFF2-40B4-BE49-F238E27FC236}">
                <a16:creationId xmlns:a16="http://schemas.microsoft.com/office/drawing/2014/main" id="{825F27A4-2AEF-D0FC-F450-B58CF05C938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15218" y="6256367"/>
            <a:ext cx="1534333" cy="356767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4">
            <a:extLst>
              <a:ext uri="{FF2B5EF4-FFF2-40B4-BE49-F238E27FC236}">
                <a16:creationId xmlns:a16="http://schemas.microsoft.com/office/drawing/2014/main" id="{A04505F3-345D-1958-7004-F93AE7F27752}"/>
              </a:ext>
            </a:extLst>
          </p:cNvPr>
          <p:cNvSpPr txBox="1"/>
          <p:nvPr/>
        </p:nvSpPr>
        <p:spPr>
          <a:xfrm>
            <a:off x="1240733" y="624367"/>
            <a:ext cx="55744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-AR" sz="2133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PREENTREGA N°2</a:t>
            </a:r>
            <a:endParaRPr sz="240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9" name="Google Shape;349;p44">
            <a:extLst>
              <a:ext uri="{FF2B5EF4-FFF2-40B4-BE49-F238E27FC236}">
                <a16:creationId xmlns:a16="http://schemas.microsoft.com/office/drawing/2014/main" id="{72F1A9E1-6F74-01A0-C2ED-634709FD603A}"/>
              </a:ext>
            </a:extLst>
          </p:cNvPr>
          <p:cNvSpPr txBox="1"/>
          <p:nvPr/>
        </p:nvSpPr>
        <p:spPr>
          <a:xfrm>
            <a:off x="1081840" y="1612463"/>
            <a:ext cx="9746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-AR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Disponibilidad de datos</a:t>
            </a: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Google Shape;349;p44">
            <a:extLst>
              <a:ext uri="{FF2B5EF4-FFF2-40B4-BE49-F238E27FC236}">
                <a16:creationId xmlns:a16="http://schemas.microsoft.com/office/drawing/2014/main" id="{CAEA978A-274E-44C5-397F-748C6CD7296C}"/>
              </a:ext>
            </a:extLst>
          </p:cNvPr>
          <p:cNvSpPr txBox="1"/>
          <p:nvPr/>
        </p:nvSpPr>
        <p:spPr>
          <a:xfrm>
            <a:off x="1081840" y="2019896"/>
            <a:ext cx="9746800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-AR" sz="1400" b="1" dirty="0" err="1">
                <a:highlight>
                  <a:srgbClr val="FFFF00"/>
                </a:highlight>
              </a:rPr>
              <a:t>Prompt</a:t>
            </a:r>
            <a:r>
              <a:rPr lang="es-AR" sz="1400" b="1" dirty="0">
                <a:highlight>
                  <a:srgbClr val="FFFF00"/>
                </a:highlight>
              </a:rPr>
              <a:t> E — Eventos (</a:t>
            </a:r>
            <a:r>
              <a:rPr lang="es-AR" sz="1400" b="1" dirty="0" err="1">
                <a:highlight>
                  <a:srgbClr val="FFFF00"/>
                </a:highlight>
              </a:rPr>
              <a:t>brief</a:t>
            </a:r>
            <a:r>
              <a:rPr lang="es-AR" sz="1400" b="1" dirty="0">
                <a:highlight>
                  <a:srgbClr val="FFFF00"/>
                </a:highlight>
              </a:rPr>
              <a:t> de cotización)</a:t>
            </a:r>
          </a:p>
          <a:p>
            <a:r>
              <a:rPr lang="es-AR" sz="1400" dirty="0"/>
              <a:t>“</a:t>
            </a:r>
            <a:r>
              <a:rPr lang="es-AR" sz="1400" dirty="0" err="1"/>
              <a:t>Actuá</a:t>
            </a:r>
            <a:r>
              <a:rPr lang="es-AR" sz="1400" dirty="0"/>
              <a:t> como coordinador de eventos florales.</a:t>
            </a:r>
            <a:br>
              <a:rPr lang="es-AR" sz="1400" dirty="0"/>
            </a:br>
            <a:r>
              <a:rPr lang="es-AR" sz="1400" dirty="0" err="1"/>
              <a:t>Creá</a:t>
            </a:r>
            <a:r>
              <a:rPr lang="es-AR" sz="1400" dirty="0"/>
              <a:t> un formulario breve (</a:t>
            </a:r>
            <a:r>
              <a:rPr lang="es-AR" sz="1400" dirty="0" err="1"/>
              <a:t>máx</a:t>
            </a:r>
            <a:r>
              <a:rPr lang="es-AR" sz="1400" dirty="0"/>
              <a:t> 8 preguntas) para cotizar un evento (casamiento/quince/corporativo).</a:t>
            </a:r>
            <a:br>
              <a:rPr lang="es-AR" sz="1400" dirty="0"/>
            </a:br>
            <a:r>
              <a:rPr lang="es-AR" sz="1400" dirty="0"/>
              <a:t>Incluir: fecha, horario, lugar, montaje, paleta, estilo, cantidades, presupuesto aproximado, referencia visual.</a:t>
            </a:r>
            <a:br>
              <a:rPr lang="es-AR" sz="1400" dirty="0"/>
            </a:br>
            <a:r>
              <a:rPr lang="es-AR" sz="1400" dirty="0"/>
              <a:t>Tono: [CERCANO, AMIGABLE Y DIRECTO ], .”</a:t>
            </a:r>
          </a:p>
          <a:p>
            <a:endParaRPr lang="es-AR" sz="1400" b="1" dirty="0"/>
          </a:p>
          <a:p>
            <a:r>
              <a:rPr lang="es-AR" sz="1400" b="1" dirty="0" err="1">
                <a:highlight>
                  <a:srgbClr val="FFFF00"/>
                </a:highlight>
              </a:rPr>
              <a:t>Prompt</a:t>
            </a:r>
            <a:r>
              <a:rPr lang="es-AR" sz="1400" b="1" dirty="0">
                <a:highlight>
                  <a:srgbClr val="FFFF00"/>
                </a:highlight>
              </a:rPr>
              <a:t> F — Objeción “es caro”</a:t>
            </a:r>
          </a:p>
          <a:p>
            <a:r>
              <a:rPr lang="es-AR" sz="1400" dirty="0"/>
              <a:t>“Objeción: ‘Está caro’.</a:t>
            </a:r>
            <a:br>
              <a:rPr lang="es-AR" sz="1400" dirty="0"/>
            </a:br>
            <a:r>
              <a:rPr lang="es-AR" sz="1400" dirty="0"/>
              <a:t>Contexto: [</a:t>
            </a:r>
            <a:r>
              <a:rPr lang="es-AR" sz="1400" dirty="0">
                <a:solidFill>
                  <a:srgbClr val="FF0000"/>
                </a:solidFill>
              </a:rPr>
              <a:t>ITEM</a:t>
            </a:r>
            <a:r>
              <a:rPr lang="es-AR" sz="1400" dirty="0"/>
              <a:t>], [</a:t>
            </a:r>
            <a:r>
              <a:rPr lang="es-AR" sz="1400" dirty="0">
                <a:solidFill>
                  <a:srgbClr val="FF0000"/>
                </a:solidFill>
              </a:rPr>
              <a:t>PRECIO</a:t>
            </a:r>
            <a:r>
              <a:rPr lang="es-AR" sz="1400" dirty="0"/>
              <a:t>], incluye [</a:t>
            </a:r>
            <a:r>
              <a:rPr lang="es-AR" sz="1400" dirty="0">
                <a:solidFill>
                  <a:srgbClr val="FF0000"/>
                </a:solidFill>
              </a:rPr>
              <a:t>INCLUYE</a:t>
            </a:r>
            <a:r>
              <a:rPr lang="es-AR" sz="1400" dirty="0"/>
              <a:t>], valor diferencial [</a:t>
            </a:r>
            <a:r>
              <a:rPr lang="es-AR" sz="1400" dirty="0">
                <a:solidFill>
                  <a:srgbClr val="FF0000"/>
                </a:solidFill>
              </a:rPr>
              <a:t>DIFERENCIAL</a:t>
            </a:r>
            <a:r>
              <a:rPr lang="es-AR" sz="1400" dirty="0"/>
              <a:t>].</a:t>
            </a:r>
            <a:br>
              <a:rPr lang="es-AR" sz="1400" dirty="0"/>
            </a:br>
            <a:r>
              <a:rPr lang="es-AR" sz="1400" dirty="0" err="1"/>
              <a:t>Generá</a:t>
            </a:r>
            <a:r>
              <a:rPr lang="es-AR" sz="1400" dirty="0"/>
              <a:t> 5 respuestas cortas para WhatsApp: 2 centradas en valor/duración, 2 con alternativas (ramos más chicos/box), 1 con cierre suave. </a:t>
            </a:r>
            <a:r>
              <a:rPr lang="es-AR" sz="1400" dirty="0" err="1"/>
              <a:t>Máx</a:t>
            </a:r>
            <a:r>
              <a:rPr lang="es-AR" sz="1400" dirty="0"/>
              <a:t> 240 caracteres cada una.”</a:t>
            </a:r>
          </a:p>
          <a:p>
            <a:endParaRPr lang="es-AR" sz="1400" dirty="0"/>
          </a:p>
          <a:p>
            <a:r>
              <a:rPr lang="es-AR" sz="1400" b="1" dirty="0" err="1">
                <a:highlight>
                  <a:srgbClr val="FFFF00"/>
                </a:highlight>
              </a:rPr>
              <a:t>Prompt</a:t>
            </a:r>
            <a:r>
              <a:rPr lang="es-AR" sz="1400" b="1" dirty="0">
                <a:highlight>
                  <a:srgbClr val="FFFF00"/>
                </a:highlight>
              </a:rPr>
              <a:t> G — Confianza “¿</a:t>
            </a:r>
            <a:r>
              <a:rPr lang="es-AR" sz="1400" b="1" dirty="0" err="1">
                <a:highlight>
                  <a:srgbClr val="FFFF00"/>
                </a:highlight>
              </a:rPr>
              <a:t>tenés</a:t>
            </a:r>
            <a:r>
              <a:rPr lang="es-AR" sz="1400" b="1" dirty="0">
                <a:highlight>
                  <a:srgbClr val="FFFF00"/>
                </a:highlight>
              </a:rPr>
              <a:t> fotos / referencias?”</a:t>
            </a:r>
          </a:p>
          <a:p>
            <a:r>
              <a:rPr lang="es-AR" sz="1400" dirty="0"/>
              <a:t>“Cliente: ‘¿</a:t>
            </a:r>
            <a:r>
              <a:rPr lang="es-AR" sz="1400" dirty="0" err="1"/>
              <a:t>Tenés</a:t>
            </a:r>
            <a:r>
              <a:rPr lang="es-AR" sz="1400" dirty="0"/>
              <a:t> fotos?’.</a:t>
            </a:r>
            <a:br>
              <a:rPr lang="es-AR" sz="1400" dirty="0"/>
            </a:br>
            <a:r>
              <a:rPr lang="es-AR" sz="1400" dirty="0" err="1"/>
              <a:t>Redactá</a:t>
            </a:r>
            <a:r>
              <a:rPr lang="es-AR" sz="1400" dirty="0"/>
              <a:t> respuesta que: 1) muestre prueba social (sin inventar números), 2) ofrecer enviar catálogo, 3) pida preferencia de color/estilo para recomendar 2 opciones. </a:t>
            </a:r>
            <a:r>
              <a:rPr lang="es-AR" sz="1400" dirty="0" err="1"/>
              <a:t>Máx</a:t>
            </a:r>
            <a:r>
              <a:rPr lang="es-AR" sz="1400" dirty="0"/>
              <a:t> 320 caracteres.”</a:t>
            </a:r>
          </a:p>
        </p:txBody>
      </p:sp>
    </p:spTree>
    <p:extLst>
      <p:ext uri="{BB962C8B-B14F-4D97-AF65-F5344CB8AC3E}">
        <p14:creationId xmlns:p14="http://schemas.microsoft.com/office/powerpoint/2010/main" val="3853463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>
          <a:extLst>
            <a:ext uri="{FF2B5EF4-FFF2-40B4-BE49-F238E27FC236}">
              <a16:creationId xmlns:a16="http://schemas.microsoft.com/office/drawing/2014/main" id="{B2EEF855-27C5-32FE-278E-6278274AF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p44">
            <a:extLst>
              <a:ext uri="{FF2B5EF4-FFF2-40B4-BE49-F238E27FC236}">
                <a16:creationId xmlns:a16="http://schemas.microsoft.com/office/drawing/2014/main" id="{64C547DF-6A74-0F6D-E313-9A4DB5722753}"/>
              </a:ext>
            </a:extLst>
          </p:cNvPr>
          <p:cNvGrpSpPr/>
          <p:nvPr/>
        </p:nvGrpSpPr>
        <p:grpSpPr>
          <a:xfrm>
            <a:off x="634006" y="624345"/>
            <a:ext cx="574765" cy="574864"/>
            <a:chOff x="3137108" y="2467173"/>
            <a:chExt cx="738900" cy="738900"/>
          </a:xfrm>
        </p:grpSpPr>
        <p:sp>
          <p:nvSpPr>
            <p:cNvPr id="343" name="Google Shape;343;p44">
              <a:extLst>
                <a:ext uri="{FF2B5EF4-FFF2-40B4-BE49-F238E27FC236}">
                  <a16:creationId xmlns:a16="http://schemas.microsoft.com/office/drawing/2014/main" id="{5615F55F-FFD8-4D8D-B265-339FD7A6CD33}"/>
                </a:ext>
              </a:extLst>
            </p:cNvPr>
            <p:cNvSpPr/>
            <p:nvPr/>
          </p:nvSpPr>
          <p:spPr>
            <a:xfrm>
              <a:off x="3137108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pic>
          <p:nvPicPr>
            <p:cNvPr id="344" name="Google Shape;344;p44" title="ícono de desafío entregable">
              <a:extLst>
                <a:ext uri="{FF2B5EF4-FFF2-40B4-BE49-F238E27FC236}">
                  <a16:creationId xmlns:a16="http://schemas.microsoft.com/office/drawing/2014/main" id="{1523EDED-52E3-5441-1AA5-307EC6721388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84109" y="2622263"/>
              <a:ext cx="428721" cy="42872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46" name="Google Shape;346;p44">
            <a:extLst>
              <a:ext uri="{FF2B5EF4-FFF2-40B4-BE49-F238E27FC236}">
                <a16:creationId xmlns:a16="http://schemas.microsoft.com/office/drawing/2014/main" id="{77AFC49F-7F69-BBE3-D228-845465D3034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15218" y="6256367"/>
            <a:ext cx="1534333" cy="356767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4">
            <a:extLst>
              <a:ext uri="{FF2B5EF4-FFF2-40B4-BE49-F238E27FC236}">
                <a16:creationId xmlns:a16="http://schemas.microsoft.com/office/drawing/2014/main" id="{D093E0D8-21A7-E662-A946-3B83F67F6D8E}"/>
              </a:ext>
            </a:extLst>
          </p:cNvPr>
          <p:cNvSpPr txBox="1"/>
          <p:nvPr/>
        </p:nvSpPr>
        <p:spPr>
          <a:xfrm>
            <a:off x="1240733" y="624367"/>
            <a:ext cx="55744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-AR" sz="2133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PREENTREGA N°2</a:t>
            </a:r>
            <a:endParaRPr sz="240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9" name="Google Shape;349;p44">
            <a:extLst>
              <a:ext uri="{FF2B5EF4-FFF2-40B4-BE49-F238E27FC236}">
                <a16:creationId xmlns:a16="http://schemas.microsoft.com/office/drawing/2014/main" id="{8149EF12-7E98-3CFF-9CC6-EED181F31B09}"/>
              </a:ext>
            </a:extLst>
          </p:cNvPr>
          <p:cNvSpPr txBox="1"/>
          <p:nvPr/>
        </p:nvSpPr>
        <p:spPr>
          <a:xfrm>
            <a:off x="1081840" y="1612463"/>
            <a:ext cx="9746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-AR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Disponibilidad de datos</a:t>
            </a: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Google Shape;349;p44">
            <a:extLst>
              <a:ext uri="{FF2B5EF4-FFF2-40B4-BE49-F238E27FC236}">
                <a16:creationId xmlns:a16="http://schemas.microsoft.com/office/drawing/2014/main" id="{07342F0F-8A32-2546-3156-4404CE89AABC}"/>
              </a:ext>
            </a:extLst>
          </p:cNvPr>
          <p:cNvSpPr txBox="1"/>
          <p:nvPr/>
        </p:nvSpPr>
        <p:spPr>
          <a:xfrm>
            <a:off x="1081840" y="2019896"/>
            <a:ext cx="97468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-AR" sz="1400" b="1" dirty="0" err="1">
                <a:highlight>
                  <a:srgbClr val="FFFF00"/>
                </a:highlight>
              </a:rPr>
              <a:t>Prompt</a:t>
            </a:r>
            <a:r>
              <a:rPr lang="es-AR" sz="1400" b="1" dirty="0">
                <a:highlight>
                  <a:srgbClr val="FFFF00"/>
                </a:highlight>
              </a:rPr>
              <a:t> H — Reclamo por diferencia vs foto</a:t>
            </a:r>
          </a:p>
          <a:p>
            <a:r>
              <a:rPr lang="es-AR" sz="1400" dirty="0"/>
              <a:t>“Cliente reclama: ‘No era como la foto’.</a:t>
            </a:r>
            <a:br>
              <a:rPr lang="es-AR" sz="1400" dirty="0"/>
            </a:br>
            <a:r>
              <a:rPr lang="es-AR" sz="1400" dirty="0" err="1"/>
              <a:t>Creá</a:t>
            </a:r>
            <a:r>
              <a:rPr lang="es-AR" sz="1400" dirty="0"/>
              <a:t> respuesta empática, sin culpar, explicando estacionalidad/reemplazos según políticas, y ofreciendo 2 vías de solución (1) revisar caso con foto + datos, (2) proponer ajuste/reprogramación </a:t>
            </a:r>
            <a:r>
              <a:rPr lang="es-AR" sz="1400" b="1" dirty="0"/>
              <a:t>a coordinar</a:t>
            </a:r>
            <a:r>
              <a:rPr lang="es-AR" sz="1400" dirty="0"/>
              <a:t> (sin prometer).</a:t>
            </a:r>
            <a:br>
              <a:rPr lang="es-AR" sz="1400" dirty="0"/>
            </a:br>
            <a:r>
              <a:rPr lang="es-AR" sz="1400" dirty="0"/>
              <a:t>Políticas: [https://coberturasflorales.com.ar/faqs/], . </a:t>
            </a:r>
            <a:r>
              <a:rPr lang="es-AR" sz="1400" dirty="0" err="1"/>
              <a:t>Máx</a:t>
            </a:r>
            <a:r>
              <a:rPr lang="es-AR" sz="1400" dirty="0"/>
              <a:t> 450 caracteres. Pedí 2 datos clave.”</a:t>
            </a:r>
          </a:p>
        </p:txBody>
      </p:sp>
    </p:spTree>
    <p:extLst>
      <p:ext uri="{BB962C8B-B14F-4D97-AF65-F5344CB8AC3E}">
        <p14:creationId xmlns:p14="http://schemas.microsoft.com/office/powerpoint/2010/main" val="3926878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>
          <a:extLst>
            <a:ext uri="{FF2B5EF4-FFF2-40B4-BE49-F238E27FC236}">
              <a16:creationId xmlns:a16="http://schemas.microsoft.com/office/drawing/2014/main" id="{7B8DAD92-4406-606B-58C9-2D9B086DF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p44">
            <a:extLst>
              <a:ext uri="{FF2B5EF4-FFF2-40B4-BE49-F238E27FC236}">
                <a16:creationId xmlns:a16="http://schemas.microsoft.com/office/drawing/2014/main" id="{2CD1C316-BABB-792F-956D-87369E1047E5}"/>
              </a:ext>
            </a:extLst>
          </p:cNvPr>
          <p:cNvGrpSpPr/>
          <p:nvPr/>
        </p:nvGrpSpPr>
        <p:grpSpPr>
          <a:xfrm>
            <a:off x="634006" y="624345"/>
            <a:ext cx="574765" cy="574864"/>
            <a:chOff x="3137108" y="2467173"/>
            <a:chExt cx="738900" cy="738900"/>
          </a:xfrm>
        </p:grpSpPr>
        <p:sp>
          <p:nvSpPr>
            <p:cNvPr id="343" name="Google Shape;343;p44">
              <a:extLst>
                <a:ext uri="{FF2B5EF4-FFF2-40B4-BE49-F238E27FC236}">
                  <a16:creationId xmlns:a16="http://schemas.microsoft.com/office/drawing/2014/main" id="{AC194F83-6AD4-CBB6-530D-56F2CE6584F6}"/>
                </a:ext>
              </a:extLst>
            </p:cNvPr>
            <p:cNvSpPr/>
            <p:nvPr/>
          </p:nvSpPr>
          <p:spPr>
            <a:xfrm>
              <a:off x="3137108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pic>
          <p:nvPicPr>
            <p:cNvPr id="344" name="Google Shape;344;p44" title="ícono de desafío entregable">
              <a:extLst>
                <a:ext uri="{FF2B5EF4-FFF2-40B4-BE49-F238E27FC236}">
                  <a16:creationId xmlns:a16="http://schemas.microsoft.com/office/drawing/2014/main" id="{BC5411F6-2BCF-77C9-06B4-E57FF17444A2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84109" y="2622263"/>
              <a:ext cx="428721" cy="42872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46" name="Google Shape;346;p44">
            <a:extLst>
              <a:ext uri="{FF2B5EF4-FFF2-40B4-BE49-F238E27FC236}">
                <a16:creationId xmlns:a16="http://schemas.microsoft.com/office/drawing/2014/main" id="{565FBA1C-EA42-BAB9-8C7A-1D74FACE0AC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15218" y="6256367"/>
            <a:ext cx="1534333" cy="356767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4">
            <a:extLst>
              <a:ext uri="{FF2B5EF4-FFF2-40B4-BE49-F238E27FC236}">
                <a16:creationId xmlns:a16="http://schemas.microsoft.com/office/drawing/2014/main" id="{63EE49E1-7242-F1EE-DBD9-6D99B60CC838}"/>
              </a:ext>
            </a:extLst>
          </p:cNvPr>
          <p:cNvSpPr txBox="1"/>
          <p:nvPr/>
        </p:nvSpPr>
        <p:spPr>
          <a:xfrm>
            <a:off x="1240733" y="624367"/>
            <a:ext cx="55744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-AR" sz="2133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PREENTREGA N°2</a:t>
            </a:r>
            <a:endParaRPr sz="240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9" name="Google Shape;349;p44">
            <a:extLst>
              <a:ext uri="{FF2B5EF4-FFF2-40B4-BE49-F238E27FC236}">
                <a16:creationId xmlns:a16="http://schemas.microsoft.com/office/drawing/2014/main" id="{D71CBAAD-A11D-FA06-752A-15041466B33B}"/>
              </a:ext>
            </a:extLst>
          </p:cNvPr>
          <p:cNvSpPr txBox="1"/>
          <p:nvPr/>
        </p:nvSpPr>
        <p:spPr>
          <a:xfrm>
            <a:off x="1081840" y="1612463"/>
            <a:ext cx="9746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-AR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Disponibilidad de datos</a:t>
            </a: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Google Shape;349;p44">
            <a:extLst>
              <a:ext uri="{FF2B5EF4-FFF2-40B4-BE49-F238E27FC236}">
                <a16:creationId xmlns:a16="http://schemas.microsoft.com/office/drawing/2014/main" id="{ADC230EE-C0FF-3245-4180-662273E9D7FA}"/>
              </a:ext>
            </a:extLst>
          </p:cNvPr>
          <p:cNvSpPr txBox="1"/>
          <p:nvPr/>
        </p:nvSpPr>
        <p:spPr>
          <a:xfrm>
            <a:off x="1081839" y="2019896"/>
            <a:ext cx="10654889" cy="459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numCol="2" anchor="t" anchorCtr="0">
            <a:noAutofit/>
          </a:bodyPr>
          <a:lstStyle/>
          <a:p>
            <a:r>
              <a:rPr lang="es-AR" sz="1400" b="1" dirty="0" err="1">
                <a:highlight>
                  <a:srgbClr val="FFFF00"/>
                </a:highlight>
              </a:rPr>
              <a:t>Prompt</a:t>
            </a:r>
            <a:r>
              <a:rPr lang="es-AR" sz="1400" b="1" dirty="0">
                <a:highlight>
                  <a:srgbClr val="FFFF00"/>
                </a:highlight>
              </a:rPr>
              <a:t> I — Clasificador de intención</a:t>
            </a:r>
          </a:p>
          <a:p>
            <a:r>
              <a:rPr lang="es-AR" sz="1400" b="1" dirty="0"/>
              <a:t>A) Mensaje de entrada (INPUT)</a:t>
            </a:r>
          </a:p>
          <a:p>
            <a:r>
              <a:rPr lang="es-AR" sz="1400" dirty="0"/>
              <a:t>Campos obligatorios:</a:t>
            </a:r>
          </a:p>
          <a:p>
            <a:r>
              <a:rPr lang="es-AR" sz="1400" dirty="0" err="1"/>
              <a:t>mensaje_cliente</a:t>
            </a:r>
            <a:r>
              <a:rPr lang="es-AR" sz="1400" dirty="0"/>
              <a:t> (texto tal cual llega por WhatsApp)</a:t>
            </a:r>
          </a:p>
          <a:p>
            <a:r>
              <a:rPr lang="es-AR" sz="1400" dirty="0" err="1"/>
              <a:t>politicas_reglas</a:t>
            </a:r>
            <a:r>
              <a:rPr lang="es-AR" sz="1400" dirty="0"/>
              <a:t> (tu bloque atómico)</a:t>
            </a:r>
          </a:p>
          <a:p>
            <a:r>
              <a:rPr lang="es-AR" sz="1400" dirty="0"/>
              <a:t>canal (por defecto “WhatsApp”)</a:t>
            </a:r>
          </a:p>
          <a:p>
            <a:r>
              <a:rPr lang="es-AR" sz="1400" dirty="0"/>
              <a:t>objetivo (clasificar + detectar dato faltante + decidir nivel)</a:t>
            </a:r>
          </a:p>
          <a:p>
            <a:endParaRPr lang="es-AR" sz="1400" dirty="0"/>
          </a:p>
          <a:p>
            <a:r>
              <a:rPr lang="es-AR" sz="1400" dirty="0" err="1"/>
              <a:t>Actuá</a:t>
            </a:r>
            <a:r>
              <a:rPr lang="es-AR" sz="1400" dirty="0"/>
              <a:t> como CLASIFICADOR de atención al cliente para Coberturas Florales.</a:t>
            </a:r>
          </a:p>
          <a:p>
            <a:endParaRPr lang="es-AR" sz="1400" dirty="0"/>
          </a:p>
          <a:p>
            <a:r>
              <a:rPr lang="es-AR" sz="1400" b="1" dirty="0"/>
              <a:t>B) Reglas a aplicarse</a:t>
            </a:r>
          </a:p>
          <a:p>
            <a:r>
              <a:rPr lang="es-AR" sz="1400" dirty="0"/>
              <a:t>1- Elegir un solo tag de: envíos | pagos | personalización | evento | reclamos.</a:t>
            </a:r>
          </a:p>
          <a:p>
            <a:r>
              <a:rPr lang="es-AR" sz="1400" dirty="0"/>
              <a:t>2- Detectar máximo 1 </a:t>
            </a:r>
            <a:r>
              <a:rPr lang="es-AR" sz="1400" dirty="0" err="1"/>
              <a:t>dato_faltante</a:t>
            </a:r>
            <a:r>
              <a:rPr lang="es-AR" sz="1400" dirty="0"/>
              <a:t> que sea realmente necesario para responder (si no falta, “N/A”).</a:t>
            </a:r>
          </a:p>
          <a:p>
            <a:r>
              <a:rPr lang="es-AR" sz="1400" dirty="0"/>
              <a:t>3- Definir nivel:</a:t>
            </a:r>
          </a:p>
          <a:p>
            <a:r>
              <a:rPr lang="es-AR" sz="1400" dirty="0"/>
              <a:t>simple: se responde usando políticas sin riesgos.</a:t>
            </a:r>
          </a:p>
          <a:p>
            <a:r>
              <a:rPr lang="es-AR" sz="1400" dirty="0"/>
              <a:t>derivar: cuando la consulta pide algo no cubierto por políticas/reglas, o requiere confirmación humana (por ejemplo: “eventos” si no está en tu bloque).</a:t>
            </a:r>
          </a:p>
          <a:p>
            <a:endParaRPr lang="es-AR" sz="1400" dirty="0"/>
          </a:p>
          <a:p>
            <a:endParaRPr lang="es-AR" sz="1400" dirty="0"/>
          </a:p>
          <a:p>
            <a:endParaRPr lang="es-AR" sz="1400" dirty="0"/>
          </a:p>
          <a:p>
            <a:endParaRPr lang="es-AR" sz="1400" dirty="0"/>
          </a:p>
          <a:p>
            <a:r>
              <a:rPr lang="es-AR" sz="1400" dirty="0"/>
              <a:t>4- No inventar condiciones ni información (no agregar horarios, zonas, precios, “</a:t>
            </a:r>
            <a:r>
              <a:rPr lang="es-AR" sz="1400" dirty="0" err="1"/>
              <a:t>express</a:t>
            </a:r>
            <a:r>
              <a:rPr lang="es-AR" sz="1400" dirty="0"/>
              <a:t>”, etc.).Si el mensaje mezcla temas, elegir el tag principal (el que desbloquea la respuesta) y mencionarlo en </a:t>
            </a:r>
            <a:r>
              <a:rPr lang="es-AR" sz="1400" dirty="0" err="1"/>
              <a:t>razon_corta</a:t>
            </a:r>
            <a:r>
              <a:rPr lang="es-AR" sz="1400" dirty="0"/>
              <a:t>.</a:t>
            </a:r>
          </a:p>
          <a:p>
            <a:endParaRPr lang="es-AR" sz="1400" dirty="0"/>
          </a:p>
          <a:p>
            <a:r>
              <a:rPr lang="es-AR" sz="1400" b="1" dirty="0"/>
              <a:t>C) Mensaje de salida (OUTPUT)</a:t>
            </a:r>
          </a:p>
          <a:p>
            <a:r>
              <a:rPr lang="es-AR" sz="1400" dirty="0"/>
              <a:t>Formato obligatorio: JSON en una sola línea</a:t>
            </a:r>
          </a:p>
          <a:p>
            <a:r>
              <a:rPr lang="es-AR" sz="900" dirty="0"/>
              <a:t>INPUT:</a:t>
            </a:r>
          </a:p>
          <a:p>
            <a:r>
              <a:rPr lang="es-AR" sz="900" dirty="0"/>
              <a:t>- CANAL: WhatsApp</a:t>
            </a:r>
          </a:p>
          <a:p>
            <a:r>
              <a:rPr lang="es-AR" sz="900" dirty="0"/>
              <a:t>- POLITICAS/REGLAS: &lt;&lt;pegar aquí&gt;&gt;</a:t>
            </a:r>
          </a:p>
          <a:p>
            <a:r>
              <a:rPr lang="es-AR" sz="900" dirty="0"/>
              <a:t>- MENSAJE_CLIENTE: &lt;&lt;pegar aquí&gt;&gt;</a:t>
            </a:r>
          </a:p>
          <a:p>
            <a:endParaRPr lang="es-AR" sz="900" dirty="0"/>
          </a:p>
          <a:p>
            <a:r>
              <a:rPr lang="es-AR" sz="900" dirty="0"/>
              <a:t>REGLAS:</a:t>
            </a:r>
          </a:p>
          <a:p>
            <a:r>
              <a:rPr lang="es-AR" sz="900" dirty="0"/>
              <a:t>1) </a:t>
            </a:r>
            <a:r>
              <a:rPr lang="es-AR" sz="900" dirty="0" err="1"/>
              <a:t>Devolvé</a:t>
            </a:r>
            <a:r>
              <a:rPr lang="es-AR" sz="900" dirty="0"/>
              <a:t> UN (1) tag: envíos | pagos | personalización | evento | reclamos.</a:t>
            </a:r>
          </a:p>
          <a:p>
            <a:r>
              <a:rPr lang="es-AR" sz="900" dirty="0"/>
              <a:t>2) </a:t>
            </a:r>
            <a:r>
              <a:rPr lang="es-AR" sz="900" dirty="0" err="1"/>
              <a:t>Detectá</a:t>
            </a:r>
            <a:r>
              <a:rPr lang="es-AR" sz="900" dirty="0"/>
              <a:t> como máximo UN (1) dato faltante clave. Si no falta nada, "N/A".</a:t>
            </a:r>
          </a:p>
          <a:p>
            <a:r>
              <a:rPr lang="es-AR" sz="900" dirty="0"/>
              <a:t>3) Definí nivel:</a:t>
            </a:r>
          </a:p>
          <a:p>
            <a:r>
              <a:rPr lang="es-AR" sz="900" dirty="0"/>
              <a:t>   - "simple" si se puede responder con POLITICAS/REGLAS sin suposiciones.</a:t>
            </a:r>
          </a:p>
          <a:p>
            <a:r>
              <a:rPr lang="es-AR" sz="900" dirty="0"/>
              <a:t>   - "derivar" si la consulta no está cubierta por POLITICAS/REGLAS o requiere confirmación humana.</a:t>
            </a:r>
          </a:p>
          <a:p>
            <a:r>
              <a:rPr lang="es-AR" sz="900" dirty="0"/>
              <a:t>4) No inventes información fuera de POLITICAS/REGLAS.</a:t>
            </a:r>
          </a:p>
          <a:p>
            <a:r>
              <a:rPr lang="es-AR" sz="900" dirty="0"/>
              <a:t>5) Salida estricta en JSON, una sola línea, sin texto extra.</a:t>
            </a:r>
          </a:p>
          <a:p>
            <a:endParaRPr lang="es-AR" sz="900" dirty="0"/>
          </a:p>
          <a:p>
            <a:r>
              <a:rPr lang="es-AR" sz="900" dirty="0"/>
              <a:t>OUTPUT (JSON):</a:t>
            </a:r>
          </a:p>
          <a:p>
            <a:r>
              <a:rPr lang="es-AR" sz="900" dirty="0"/>
              <a:t>{"tag":"","dato_faltante":"","nivel":"","</a:t>
            </a:r>
            <a:r>
              <a:rPr lang="es-AR" sz="900" dirty="0" err="1"/>
              <a:t>razon_corta</a:t>
            </a:r>
            <a:r>
              <a:rPr lang="es-AR" sz="900" dirty="0"/>
              <a:t>":""}</a:t>
            </a:r>
          </a:p>
        </p:txBody>
      </p:sp>
    </p:spTree>
    <p:extLst>
      <p:ext uri="{BB962C8B-B14F-4D97-AF65-F5344CB8AC3E}">
        <p14:creationId xmlns:p14="http://schemas.microsoft.com/office/powerpoint/2010/main" val="976451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>
          <a:extLst>
            <a:ext uri="{FF2B5EF4-FFF2-40B4-BE49-F238E27FC236}">
              <a16:creationId xmlns:a16="http://schemas.microsoft.com/office/drawing/2014/main" id="{7137F0C0-AABA-F3EE-D03D-F7771B072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p44">
            <a:extLst>
              <a:ext uri="{FF2B5EF4-FFF2-40B4-BE49-F238E27FC236}">
                <a16:creationId xmlns:a16="http://schemas.microsoft.com/office/drawing/2014/main" id="{FB4FC677-91FE-A3C8-A419-6F6F8F3E9BA1}"/>
              </a:ext>
            </a:extLst>
          </p:cNvPr>
          <p:cNvGrpSpPr/>
          <p:nvPr/>
        </p:nvGrpSpPr>
        <p:grpSpPr>
          <a:xfrm>
            <a:off x="634006" y="624345"/>
            <a:ext cx="574765" cy="574864"/>
            <a:chOff x="3137108" y="2467173"/>
            <a:chExt cx="738900" cy="738900"/>
          </a:xfrm>
        </p:grpSpPr>
        <p:sp>
          <p:nvSpPr>
            <p:cNvPr id="343" name="Google Shape;343;p44">
              <a:extLst>
                <a:ext uri="{FF2B5EF4-FFF2-40B4-BE49-F238E27FC236}">
                  <a16:creationId xmlns:a16="http://schemas.microsoft.com/office/drawing/2014/main" id="{07BC8802-C6C5-6E79-FE26-046D370ED504}"/>
                </a:ext>
              </a:extLst>
            </p:cNvPr>
            <p:cNvSpPr/>
            <p:nvPr/>
          </p:nvSpPr>
          <p:spPr>
            <a:xfrm>
              <a:off x="3137108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pic>
          <p:nvPicPr>
            <p:cNvPr id="344" name="Google Shape;344;p44" title="ícono de desafío entregable">
              <a:extLst>
                <a:ext uri="{FF2B5EF4-FFF2-40B4-BE49-F238E27FC236}">
                  <a16:creationId xmlns:a16="http://schemas.microsoft.com/office/drawing/2014/main" id="{912EBB9B-4228-2A7A-2E03-8B5547650AB0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84109" y="2622263"/>
              <a:ext cx="428721" cy="42872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46" name="Google Shape;346;p44">
            <a:extLst>
              <a:ext uri="{FF2B5EF4-FFF2-40B4-BE49-F238E27FC236}">
                <a16:creationId xmlns:a16="http://schemas.microsoft.com/office/drawing/2014/main" id="{D4F14243-9F87-0997-C939-4655AA8237D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15218" y="6256367"/>
            <a:ext cx="1534333" cy="356767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4">
            <a:extLst>
              <a:ext uri="{FF2B5EF4-FFF2-40B4-BE49-F238E27FC236}">
                <a16:creationId xmlns:a16="http://schemas.microsoft.com/office/drawing/2014/main" id="{0427E230-6AD9-4C33-6BF8-E6C1E3632460}"/>
              </a:ext>
            </a:extLst>
          </p:cNvPr>
          <p:cNvSpPr txBox="1"/>
          <p:nvPr/>
        </p:nvSpPr>
        <p:spPr>
          <a:xfrm>
            <a:off x="1240733" y="624367"/>
            <a:ext cx="55744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-AR" sz="2133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PREENTREGA N°2</a:t>
            </a:r>
            <a:endParaRPr sz="240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9" name="Google Shape;349;p44">
            <a:extLst>
              <a:ext uri="{FF2B5EF4-FFF2-40B4-BE49-F238E27FC236}">
                <a16:creationId xmlns:a16="http://schemas.microsoft.com/office/drawing/2014/main" id="{0EA7F9E1-2575-67A8-E4C5-B3BC7FE81B9B}"/>
              </a:ext>
            </a:extLst>
          </p:cNvPr>
          <p:cNvSpPr txBox="1"/>
          <p:nvPr/>
        </p:nvSpPr>
        <p:spPr>
          <a:xfrm>
            <a:off x="1081840" y="1612463"/>
            <a:ext cx="9746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-AR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Disponibilidad de datos</a:t>
            </a: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Google Shape;349;p44">
            <a:extLst>
              <a:ext uri="{FF2B5EF4-FFF2-40B4-BE49-F238E27FC236}">
                <a16:creationId xmlns:a16="http://schemas.microsoft.com/office/drawing/2014/main" id="{7908A22C-79CD-08D2-0C46-8622D4697F7B}"/>
              </a:ext>
            </a:extLst>
          </p:cNvPr>
          <p:cNvSpPr txBox="1"/>
          <p:nvPr/>
        </p:nvSpPr>
        <p:spPr>
          <a:xfrm>
            <a:off x="1081840" y="2019896"/>
            <a:ext cx="9746800" cy="459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numCol="2" anchor="t" anchorCtr="0">
            <a:noAutofit/>
          </a:bodyPr>
          <a:lstStyle/>
          <a:p>
            <a:r>
              <a:rPr lang="es-AR" sz="1400" b="1" dirty="0" err="1">
                <a:highlight>
                  <a:srgbClr val="FFFF00"/>
                </a:highlight>
              </a:rPr>
              <a:t>Prompt</a:t>
            </a:r>
            <a:r>
              <a:rPr lang="es-AR" sz="1400" b="1" dirty="0">
                <a:highlight>
                  <a:srgbClr val="FFFF00"/>
                </a:highlight>
              </a:rPr>
              <a:t> J — Auditor de cumplimiento (QA)</a:t>
            </a:r>
          </a:p>
          <a:p>
            <a:r>
              <a:rPr lang="es-AR" sz="1400" b="1" dirty="0"/>
              <a:t>A) Mensaje de entrada (INPUT)</a:t>
            </a:r>
          </a:p>
          <a:p>
            <a:r>
              <a:rPr lang="es-AR" sz="1400" b="1" dirty="0"/>
              <a:t>Campos obligatorios:</a:t>
            </a:r>
            <a:endParaRPr lang="es-AR" sz="1400" dirty="0"/>
          </a:p>
          <a:p>
            <a:r>
              <a:rPr lang="es-AR" sz="1400" dirty="0" err="1"/>
              <a:t>politicas_reglas</a:t>
            </a:r>
            <a:r>
              <a:rPr lang="es-AR" sz="1100" dirty="0"/>
              <a:t> (bloque atómico)</a:t>
            </a:r>
          </a:p>
          <a:p>
            <a:r>
              <a:rPr lang="es-AR" sz="1400" dirty="0" err="1"/>
              <a:t>respuesta_agente</a:t>
            </a:r>
            <a:r>
              <a:rPr lang="es-AR" sz="1100" dirty="0"/>
              <a:t> (lo que generó el modelo)</a:t>
            </a:r>
          </a:p>
          <a:p>
            <a:r>
              <a:rPr lang="es-AR" sz="1400" dirty="0"/>
              <a:t>canal</a:t>
            </a:r>
            <a:r>
              <a:rPr lang="es-AR" sz="1100" dirty="0"/>
              <a:t> (WhatsApp)</a:t>
            </a:r>
          </a:p>
          <a:p>
            <a:r>
              <a:rPr lang="es-AR" sz="1400" dirty="0" err="1"/>
              <a:t>restricciones_formato</a:t>
            </a:r>
            <a:r>
              <a:rPr lang="es-AR" sz="1100" dirty="0"/>
              <a:t> (2–3 líneas, CTA, tono)</a:t>
            </a:r>
          </a:p>
          <a:p>
            <a:endParaRPr lang="es-AR" sz="1400" dirty="0"/>
          </a:p>
          <a:p>
            <a:r>
              <a:rPr lang="es-AR" sz="1400" b="1" dirty="0"/>
              <a:t>B) Reglas a aplicarse</a:t>
            </a:r>
          </a:p>
          <a:p>
            <a:r>
              <a:rPr lang="es-AR" sz="1400" dirty="0"/>
              <a:t>Marcar ok=false si la respuesta contiene </a:t>
            </a:r>
            <a:r>
              <a:rPr lang="es-AR" sz="1400" b="1" dirty="0"/>
              <a:t>cualquier</a:t>
            </a:r>
            <a:r>
              <a:rPr lang="es-AR" sz="1400" dirty="0"/>
              <a:t> afirmación no sustentada por políticas:</a:t>
            </a:r>
          </a:p>
          <a:p>
            <a:pPr lvl="1"/>
            <a:r>
              <a:rPr lang="es-AR" sz="1400" dirty="0"/>
              <a:t>tiempos/urgencias (“hoy”, “en 2 horas”, “</a:t>
            </a:r>
            <a:r>
              <a:rPr lang="es-AR" sz="1400" dirty="0" err="1"/>
              <a:t>express</a:t>
            </a:r>
            <a:r>
              <a:rPr lang="es-AR" sz="1400" dirty="0"/>
              <a:t>”) si no existe en reglas</a:t>
            </a:r>
          </a:p>
          <a:p>
            <a:pPr lvl="1"/>
            <a:r>
              <a:rPr lang="es-AR" sz="1400" dirty="0"/>
              <a:t>zonas fuera de cobertura</a:t>
            </a:r>
          </a:p>
          <a:p>
            <a:pPr lvl="1"/>
            <a:r>
              <a:rPr lang="es-AR" sz="1400" dirty="0"/>
              <a:t>costos/precios/descuentos</a:t>
            </a:r>
          </a:p>
          <a:p>
            <a:pPr lvl="1"/>
            <a:r>
              <a:rPr lang="es-AR" sz="1400" dirty="0"/>
              <a:t>garantías/compensaciones no listadas</a:t>
            </a:r>
          </a:p>
          <a:p>
            <a:r>
              <a:rPr lang="es-AR" sz="1400" dirty="0"/>
              <a:t>Identificar </a:t>
            </a:r>
            <a:r>
              <a:rPr lang="es-AR" sz="1400" b="1" dirty="0"/>
              <a:t>exactamente</a:t>
            </a:r>
            <a:r>
              <a:rPr lang="es-AR" sz="1400" dirty="0"/>
              <a:t> el/los fragmentos problemáticos en </a:t>
            </a:r>
            <a:r>
              <a:rPr lang="es-AR" sz="1400" dirty="0" err="1"/>
              <a:t>frases_en_riesgo</a:t>
            </a:r>
            <a:r>
              <a:rPr lang="es-AR" sz="1400" dirty="0"/>
              <a:t> (copiar textual).</a:t>
            </a:r>
          </a:p>
          <a:p>
            <a:r>
              <a:rPr lang="es-AR" sz="1400" dirty="0"/>
              <a:t>Explicar el motivo en motivo (1 línea).</a:t>
            </a:r>
          </a:p>
          <a:p>
            <a:r>
              <a:rPr lang="es-AR" sz="1400" dirty="0"/>
              <a:t>Generar </a:t>
            </a:r>
            <a:r>
              <a:rPr lang="es-AR" sz="1400" dirty="0" err="1"/>
              <a:t>respuesta_corregida</a:t>
            </a:r>
            <a:r>
              <a:rPr lang="es-AR" sz="1400" dirty="0"/>
              <a:t> cumpliendo:</a:t>
            </a:r>
          </a:p>
          <a:p>
            <a:pPr lvl="1"/>
            <a:r>
              <a:rPr lang="es-AR" sz="1400" dirty="0"/>
              <a:t>2–3 líneas</a:t>
            </a:r>
          </a:p>
          <a:p>
            <a:pPr lvl="1"/>
            <a:r>
              <a:rPr lang="es-AR" sz="1400" dirty="0"/>
              <a:t>tono cercano, amable, directo</a:t>
            </a:r>
          </a:p>
          <a:p>
            <a:pPr lvl="1"/>
            <a:r>
              <a:rPr lang="es-AR" sz="1400" dirty="0"/>
              <a:t>CTA</a:t>
            </a:r>
          </a:p>
          <a:p>
            <a:pPr lvl="1"/>
            <a:r>
              <a:rPr lang="es-AR" sz="1400" dirty="0" err="1"/>
              <a:t>si</a:t>
            </a:r>
            <a:r>
              <a:rPr lang="es-AR" sz="1400" dirty="0"/>
              <a:t> falta info o no está cubierto: “Te lo confirmo por WhatsApp” + 1 pregunta</a:t>
            </a:r>
          </a:p>
          <a:p>
            <a:pPr lvl="1"/>
            <a:endParaRPr lang="es-AR" sz="1400" dirty="0"/>
          </a:p>
          <a:p>
            <a:r>
              <a:rPr lang="es-AR" sz="1400" b="1" dirty="0"/>
              <a:t>C) Mensaje de salida (OUTPUT)</a:t>
            </a:r>
          </a:p>
          <a:p>
            <a:r>
              <a:rPr lang="es-AR" sz="1400" b="1" dirty="0"/>
              <a:t>Formato obligatorio: JSON en una sola línea</a:t>
            </a:r>
          </a:p>
          <a:p>
            <a:pPr marL="0" lvl="1"/>
            <a:endParaRPr lang="es-AR" sz="1400" b="1" dirty="0"/>
          </a:p>
          <a:p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23164343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1338</Words>
  <Application>Microsoft Office PowerPoint</Application>
  <PresentationFormat>Panorámica</PresentationFormat>
  <Paragraphs>100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DM Sans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Ruth Collia</dc:creator>
  <cp:lastModifiedBy>Ruth Collia</cp:lastModifiedBy>
  <cp:revision>1</cp:revision>
  <dcterms:created xsi:type="dcterms:W3CDTF">2026-03-11T22:34:20Z</dcterms:created>
  <dcterms:modified xsi:type="dcterms:W3CDTF">2026-03-11T22:34:53Z</dcterms:modified>
</cp:coreProperties>
</file>